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Inter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Inter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Inter-bold.fntdata"/><Relationship Id="rId6" Type="http://schemas.openxmlformats.org/officeDocument/2006/relationships/slide" Target="slides/slide1.xml"/><Relationship Id="rId18" Type="http://schemas.openxmlformats.org/officeDocument/2006/relationships/font" Target="fonts/Inte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8b855e085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g3b8b855e085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8d9ac13b2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g3b8d9ac13b2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9915de7dd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g3b9915de7dd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8d9ac13b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b8d9ac13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bca5cfb2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3bbca5cfb2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8b855e08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b8b855e08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985dd1dc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b985dd1d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8b855e085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b8b855e08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985dd1dc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b985dd1dc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b985dd1dc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b985dd1dc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8d9ac13b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b8d9ac13b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8d9ac13b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b8d9ac13b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.jpg"/><Relationship Id="rId5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5.png"/><Relationship Id="rId5" Type="http://schemas.openxmlformats.org/officeDocument/2006/relationships/image" Target="../media/image18.png"/><Relationship Id="rId6" Type="http://schemas.openxmlformats.org/officeDocument/2006/relationships/image" Target="../media/image10.png"/><Relationship Id="rId7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24.png"/><Relationship Id="rId5" Type="http://schemas.openxmlformats.org/officeDocument/2006/relationships/image" Target="../media/image14.png"/><Relationship Id="rId6" Type="http://schemas.openxmlformats.org/officeDocument/2006/relationships/image" Target="../media/image17.png"/><Relationship Id="rId7" Type="http://schemas.openxmlformats.org/officeDocument/2006/relationships/image" Target="../media/image3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9.png"/><Relationship Id="rId6" Type="http://schemas.openxmlformats.org/officeDocument/2006/relationships/image" Target="../media/image23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www.youtube.com/watch?v=ISptiTlXR6o" TargetMode="External"/><Relationship Id="rId4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www.youtube.com/watch?v=AnoyzjAoLcc" TargetMode="External"/><Relationship Id="rId4" Type="http://schemas.openxmlformats.org/officeDocument/2006/relationships/image" Target="../media/image1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www.youtube.com/watch?v=7Fw596pA7PE" TargetMode="External"/><Relationship Id="rId4" Type="http://schemas.openxmlformats.org/officeDocument/2006/relationships/image" Target="../media/image1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26.png"/><Relationship Id="rId5" Type="http://schemas.openxmlformats.org/officeDocument/2006/relationships/image" Target="../media/image28.png"/><Relationship Id="rId6" Type="http://schemas.openxmlformats.org/officeDocument/2006/relationships/image" Target="../media/image27.png"/><Relationship Id="rId7" Type="http://schemas.openxmlformats.org/officeDocument/2006/relationships/image" Target="../media/image25.png"/><Relationship Id="rId8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64D4D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725775" y="-37"/>
            <a:ext cx="10371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fr"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Your Tech Bootcamp</a:t>
            </a:r>
            <a:endParaRPr sz="13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" y="8"/>
            <a:ext cx="563350" cy="59332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3963900" y="4054001"/>
            <a:ext cx="1216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2125" lIns="72125" spcFirstLastPara="1" rIns="72125" wrap="square" tIns="72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025">
                <a:solidFill>
                  <a:schemeClr val="lt1"/>
                </a:solidFill>
              </a:rPr>
              <a:t>Stéphanie </a:t>
            </a:r>
            <a:endParaRPr sz="1025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025">
                <a:solidFill>
                  <a:schemeClr val="lt1"/>
                </a:solidFill>
              </a:rPr>
              <a:t>BRETTON</a:t>
            </a:r>
            <a:endParaRPr sz="1025">
              <a:solidFill>
                <a:schemeClr val="lt1"/>
              </a:solidFill>
            </a:endParaRPr>
          </a:p>
        </p:txBody>
      </p:sp>
      <p:pic>
        <p:nvPicPr>
          <p:cNvPr id="57" name="Google Shape;57;p13" title="1757535878566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7210" y="3166944"/>
            <a:ext cx="729600" cy="729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8" name="Google Shape;58;p13" title="115480-2560x1440-desktop-hd-netflix-wallpaper-photo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1475" y="363775"/>
            <a:ext cx="4301051" cy="241935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64D4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4" title="Netflix_icon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11600" y="0"/>
            <a:ext cx="932401" cy="932401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824375" y="1108550"/>
            <a:ext cx="7250400" cy="34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lt1"/>
              </a:solidFill>
            </a:endParaRPr>
          </a:p>
        </p:txBody>
      </p:sp>
      <p:sp>
        <p:nvSpPr>
          <p:cNvPr id="66" name="Google Shape;6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0" y="0"/>
            <a:ext cx="8074800" cy="932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lt1"/>
                </a:solidFill>
              </a:rPr>
              <a:t>PROGRAMME</a:t>
            </a:r>
            <a:endParaRPr b="1" sz="1800">
              <a:solidFill>
                <a:schemeClr val="lt1"/>
              </a:solidFill>
            </a:endParaRPr>
          </a:p>
        </p:txBody>
      </p:sp>
      <p:pic>
        <p:nvPicPr>
          <p:cNvPr id="68" name="Google Shape;68;p14" title="dataset (1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0130" y="1571523"/>
            <a:ext cx="393600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4" title="olap (1)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00125" y="2374950"/>
            <a:ext cx="393600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 title="business (1)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00130" y="3232815"/>
            <a:ext cx="393600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4" title="lightbulb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00130" y="4090702"/>
            <a:ext cx="393600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4"/>
          <p:cNvSpPr txBox="1"/>
          <p:nvPr/>
        </p:nvSpPr>
        <p:spPr>
          <a:xfrm>
            <a:off x="1975200" y="1604225"/>
            <a:ext cx="46152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lt1"/>
                </a:solidFill>
              </a:rPr>
              <a:t>Présentation du Dataset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1957650" y="2428650"/>
            <a:ext cx="46503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lt1"/>
                </a:solidFill>
              </a:rPr>
              <a:t>OLAP Modélisation du schéma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2010450" y="3286000"/>
            <a:ext cx="45447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lt1"/>
                </a:solidFill>
              </a:rPr>
              <a:t>Rapport Power BI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1957650" y="4143350"/>
            <a:ext cx="45447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lt1"/>
                </a:solidFill>
              </a:rPr>
              <a:t>Conclusion &amp; ouvertures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64D4D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5" title="Netflix_icon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11600" y="0"/>
            <a:ext cx="932401" cy="9324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611375" y="1073325"/>
            <a:ext cx="2912400" cy="3311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4572000" y="1073325"/>
            <a:ext cx="3652500" cy="3311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 txBox="1"/>
          <p:nvPr/>
        </p:nvSpPr>
        <p:spPr>
          <a:xfrm>
            <a:off x="652475" y="1038225"/>
            <a:ext cx="2830200" cy="33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	</a:t>
            </a:r>
            <a:r>
              <a:rPr lang="fr" sz="1300">
                <a:solidFill>
                  <a:schemeClr val="dk2"/>
                </a:solidFill>
              </a:rPr>
              <a:t>Récupération des données </a:t>
            </a:r>
            <a:endParaRPr sz="1300">
              <a:solidFill>
                <a:schemeClr val="dk2"/>
              </a:solidFill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fr" sz="1300">
                <a:solidFill>
                  <a:schemeClr val="dk2"/>
                </a:solidFill>
              </a:rPr>
              <a:t>1 table plate (Kaggle)</a:t>
            </a:r>
            <a:endParaRPr sz="1300">
              <a:solidFill>
                <a:schemeClr val="dk2"/>
              </a:solidFill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fr" sz="1300">
                <a:solidFill>
                  <a:schemeClr val="dk2"/>
                </a:solidFill>
              </a:rPr>
              <a:t>18 colonnes </a:t>
            </a:r>
            <a:endParaRPr sz="1300">
              <a:solidFill>
                <a:schemeClr val="dk2"/>
              </a:solidFill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fr" sz="1300">
                <a:solidFill>
                  <a:schemeClr val="dk2"/>
                </a:solidFill>
              </a:rPr>
              <a:t>8809 lignes 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	</a:t>
            </a:r>
            <a:r>
              <a:rPr lang="fr" sz="1300">
                <a:solidFill>
                  <a:schemeClr val="dk2"/>
                </a:solidFill>
              </a:rPr>
              <a:t>Fichier IMDb_scores</a:t>
            </a:r>
            <a:endParaRPr sz="1300">
              <a:solidFill>
                <a:schemeClr val="dk2"/>
              </a:solidFill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fr" sz="1300">
                <a:solidFill>
                  <a:schemeClr val="dk2"/>
                </a:solidFill>
              </a:rPr>
              <a:t>Cle API OMDb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4578000" y="1149675"/>
            <a:ext cx="3640500" cy="3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	</a:t>
            </a:r>
            <a:r>
              <a:rPr lang="fr" sz="1300">
                <a:solidFill>
                  <a:schemeClr val="dk2"/>
                </a:solidFill>
              </a:rPr>
              <a:t>Nettoyage</a:t>
            </a:r>
            <a:endParaRPr sz="1300">
              <a:solidFill>
                <a:schemeClr val="dk2"/>
              </a:solidFill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fr" sz="1300">
                <a:solidFill>
                  <a:schemeClr val="dk2"/>
                </a:solidFill>
              </a:rPr>
              <a:t>Type colonne modifié</a:t>
            </a:r>
            <a:endParaRPr sz="1300">
              <a:solidFill>
                <a:schemeClr val="dk2"/>
              </a:solidFill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fr" sz="1300">
                <a:solidFill>
                  <a:schemeClr val="dk2"/>
                </a:solidFill>
              </a:rPr>
              <a:t>Suppression des doublons</a:t>
            </a:r>
            <a:endParaRPr sz="1300">
              <a:solidFill>
                <a:schemeClr val="dk2"/>
              </a:solidFill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fr" sz="1300">
                <a:solidFill>
                  <a:schemeClr val="dk2"/>
                </a:solidFill>
              </a:rPr>
              <a:t>Fractionnement par </a:t>
            </a:r>
            <a:r>
              <a:rPr lang="fr" sz="1300">
                <a:solidFill>
                  <a:schemeClr val="dk2"/>
                </a:solidFill>
              </a:rPr>
              <a:t>délimiteur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fr" sz="1300">
                <a:solidFill>
                  <a:schemeClr val="dk2"/>
                </a:solidFill>
              </a:rPr>
              <a:t>Création Bridge-table</a:t>
            </a:r>
            <a:endParaRPr sz="1300">
              <a:solidFill>
                <a:schemeClr val="dk2"/>
              </a:solidFill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fr" sz="1300">
                <a:solidFill>
                  <a:schemeClr val="dk2"/>
                </a:solidFill>
              </a:rPr>
              <a:t>Table IMDb_score</a:t>
            </a:r>
            <a:endParaRPr sz="1300">
              <a:solidFill>
                <a:schemeClr val="dk2"/>
              </a:solidFill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fr" sz="1300">
                <a:solidFill>
                  <a:schemeClr val="dk2"/>
                </a:solidFill>
              </a:rPr>
              <a:t>Table CALENDAR</a:t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id="86" name="Google Shape;86;p15" title="data-collection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188" y="2080313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5" title="delete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1988" y="1861500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5" title="merging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51988" y="3092525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5" title="python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9200" y="3045550"/>
            <a:ext cx="360000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5"/>
          <p:cNvSpPr/>
          <p:nvPr/>
        </p:nvSpPr>
        <p:spPr>
          <a:xfrm>
            <a:off x="3598675" y="2374950"/>
            <a:ext cx="932400" cy="593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5" title="formation-power-query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595100" y="1642693"/>
            <a:ext cx="911575" cy="79762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5"/>
          <p:cNvSpPr txBox="1"/>
          <p:nvPr/>
        </p:nvSpPr>
        <p:spPr>
          <a:xfrm>
            <a:off x="0" y="-25"/>
            <a:ext cx="7999500" cy="932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lt1"/>
                </a:solidFill>
              </a:rPr>
              <a:t>Database 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lt1"/>
                </a:solidFill>
              </a:rPr>
              <a:t>Collecte , importation, traitement des données</a:t>
            </a:r>
            <a:endParaRPr b="1"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64D4D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6" title="Capture d'écran 2026-01-19 0156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013" y="654700"/>
            <a:ext cx="8457676" cy="44021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0" y="0"/>
            <a:ext cx="8246100" cy="654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lt1"/>
                </a:solidFill>
              </a:rPr>
              <a:t>SCHEMA EN FLOCON</a:t>
            </a:r>
            <a:endParaRPr b="1" sz="1800">
              <a:solidFill>
                <a:schemeClr val="lt1"/>
              </a:solidFill>
            </a:endParaRPr>
          </a:p>
        </p:txBody>
      </p:sp>
      <p:pic>
        <p:nvPicPr>
          <p:cNvPr id="100" name="Google Shape;100;p16" title="Netflix_icon.sv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89400" y="0"/>
            <a:ext cx="654600" cy="65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64D4D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7" title="Netflix_icon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11600" y="0"/>
            <a:ext cx="932401" cy="932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7"/>
          <p:cNvSpPr txBox="1"/>
          <p:nvPr/>
        </p:nvSpPr>
        <p:spPr>
          <a:xfrm>
            <a:off x="824400" y="1049825"/>
            <a:ext cx="7250400" cy="34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lt1"/>
              </a:solidFill>
            </a:endParaRPr>
          </a:p>
        </p:txBody>
      </p:sp>
      <p:sp>
        <p:nvSpPr>
          <p:cNvPr id="107" name="Google Shape;10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0" y="0"/>
            <a:ext cx="8074800" cy="932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lt1"/>
                </a:solidFill>
              </a:rPr>
              <a:t>RAPPORT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lt1"/>
                </a:solidFill>
              </a:rPr>
              <a:t>Analyse multidimensionnelle 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2299650" y="1270025"/>
            <a:ext cx="46152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lt1"/>
                </a:solidFill>
              </a:rPr>
              <a:t>Vue d’ensemble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10" name="Google Shape;110;p17"/>
          <p:cNvSpPr txBox="1"/>
          <p:nvPr/>
        </p:nvSpPr>
        <p:spPr>
          <a:xfrm>
            <a:off x="2246850" y="1837450"/>
            <a:ext cx="46503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lt1"/>
                </a:solidFill>
              </a:rPr>
              <a:t>Croissance et </a:t>
            </a:r>
            <a:r>
              <a:rPr lang="fr" sz="1800">
                <a:solidFill>
                  <a:schemeClr val="lt1"/>
                </a:solidFill>
              </a:rPr>
              <a:t>saisonnalité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2299650" y="2362863"/>
            <a:ext cx="45447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lt1"/>
                </a:solidFill>
              </a:rPr>
              <a:t>Durées et saisons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12" name="Google Shape;112;p17"/>
          <p:cNvSpPr txBox="1"/>
          <p:nvPr/>
        </p:nvSpPr>
        <p:spPr>
          <a:xfrm>
            <a:off x="2299650" y="4251425"/>
            <a:ext cx="45447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lt1"/>
                </a:solidFill>
              </a:rPr>
              <a:t>Conclusion &amp; ouvertures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2299650" y="3492463"/>
            <a:ext cx="44508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lt1"/>
                </a:solidFill>
              </a:rPr>
              <a:t>L’indicateur IMDb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2334900" y="2927663"/>
            <a:ext cx="45447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lt1"/>
                </a:solidFill>
              </a:rPr>
              <a:t>Immersion</a:t>
            </a:r>
            <a:r>
              <a:rPr lang="fr" sz="1800">
                <a:solidFill>
                  <a:schemeClr val="lt1"/>
                </a:solidFill>
              </a:rPr>
              <a:t> par nation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115" name="Google Shape;115;p17" title="chronometr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60350" y="2294575"/>
            <a:ext cx="328200" cy="32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7" title="ameriques-de-la-terr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1560350" y="2877150"/>
            <a:ext cx="328200" cy="32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7" title="cl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1560350" y="1302725"/>
            <a:ext cx="328200" cy="328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</p:pic>
      <p:pic>
        <p:nvPicPr>
          <p:cNvPr id="118" name="Google Shape;118;p17" title="chat-fleche-croissance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01975" y="1798650"/>
            <a:ext cx="328200" cy="32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7" title="imdb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53338" y="3381738"/>
            <a:ext cx="476826" cy="476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8" title="Mai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18729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31" name="Google Shape;131;p19" title="Growth 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8320050" cy="4680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0" title="Duration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17310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43" name="Google Shape;143;p21" title="Countries 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8019245" cy="451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49" name="Google Shape;149;p22" title="Imdb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8108975" cy="456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64D4D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3" title="Netflix_icon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11600" y="0"/>
            <a:ext cx="932401" cy="932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3" title="revue-catalogu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9281" y="4256050"/>
            <a:ext cx="194975" cy="19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3" title="dollar-de-sac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29322" y="3758638"/>
            <a:ext cx="214925" cy="21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3" title="glob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29325" y="3261221"/>
            <a:ext cx="214925" cy="21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3"/>
          <p:cNvSpPr txBox="1"/>
          <p:nvPr/>
        </p:nvSpPr>
        <p:spPr>
          <a:xfrm>
            <a:off x="1486725" y="932400"/>
            <a:ext cx="7135200" cy="4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lt1"/>
                </a:solidFill>
              </a:rPr>
              <a:t>Un catalogue qui est un actif stratégique.</a:t>
            </a:r>
            <a:endParaRPr b="1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lt1"/>
                </a:solidFill>
              </a:rPr>
              <a:t>Des données manquantes telles que les vues et l’audience réelle.</a:t>
            </a:r>
            <a:endParaRPr b="1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lt1"/>
                </a:solidFill>
              </a:rPr>
              <a:t>L’enrichissement des données reste via l’API OMDb reste sujet à la disponibilité de la donnée.</a:t>
            </a:r>
            <a:endParaRPr b="1">
              <a:solidFill>
                <a:schemeClr val="lt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>
                <a:solidFill>
                  <a:schemeClr val="lt1"/>
                </a:solidFill>
              </a:rPr>
              <a:t>Cet ajout permet d'ouvrir le dashboard sur des questions stratégiques futures : 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➔"/>
            </a:pPr>
            <a:r>
              <a:rPr b="1" lang="fr">
                <a:solidFill>
                  <a:schemeClr val="lt1"/>
                </a:solidFill>
              </a:rPr>
              <a:t>La quantité est-elle gage de qualité ?</a:t>
            </a:r>
            <a:r>
              <a:rPr lang="fr">
                <a:solidFill>
                  <a:schemeClr val="lt1"/>
                </a:solidFill>
              </a:rPr>
              <a:t> Est-ce que les pays qui produisent le plus sont les mieux notés ?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➔"/>
            </a:pPr>
            <a:r>
              <a:rPr b="1" lang="fr">
                <a:solidFill>
                  <a:schemeClr val="lt1"/>
                </a:solidFill>
              </a:rPr>
              <a:t>Rentabilité des talents :</a:t>
            </a:r>
            <a:r>
              <a:rPr lang="fr">
                <a:solidFill>
                  <a:schemeClr val="lt1"/>
                </a:solidFill>
              </a:rPr>
              <a:t> Les acteurs les plus présents, comme ceux identifiés en France, sont-ils les plus 'bankables' en termes de scores ?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➔"/>
            </a:pPr>
            <a:r>
              <a:rPr b="1" lang="fr">
                <a:solidFill>
                  <a:schemeClr val="lt1"/>
                </a:solidFill>
              </a:rPr>
              <a:t>Stratégie de catalogue :</a:t>
            </a:r>
            <a:r>
              <a:rPr lang="fr">
                <a:solidFill>
                  <a:schemeClr val="lt1"/>
                </a:solidFill>
              </a:rPr>
              <a:t> Faut-il investir dans des nouveaux titres ou restaurer des classiques mieux notés ?"</a:t>
            </a:r>
            <a:endParaRPr>
              <a:solidFill>
                <a:schemeClr val="lt1"/>
              </a:solidFill>
            </a:endParaRPr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159" name="Google Shape;159;p23" title="netflix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58072" y="790975"/>
            <a:ext cx="704700" cy="7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3" title="imdb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06911" y="2610574"/>
            <a:ext cx="659750" cy="659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62" name="Google Shape;162;p23"/>
          <p:cNvSpPr txBox="1"/>
          <p:nvPr/>
        </p:nvSpPr>
        <p:spPr>
          <a:xfrm>
            <a:off x="0" y="-12"/>
            <a:ext cx="8074800" cy="932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lt1"/>
                </a:solidFill>
              </a:rPr>
              <a:t>CONCLUSION ET OUVERTURES</a:t>
            </a:r>
            <a:endParaRPr b="1"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64D4D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" y="8"/>
            <a:ext cx="563350" cy="59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4" title="Netflix_icon.sv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11600" y="0"/>
            <a:ext cx="932401" cy="932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4"/>
          <p:cNvSpPr txBox="1"/>
          <p:nvPr/>
        </p:nvSpPr>
        <p:spPr>
          <a:xfrm>
            <a:off x="1176675" y="1484325"/>
            <a:ext cx="7035000" cy="186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>
                <a:solidFill>
                  <a:schemeClr val="lt1"/>
                </a:solidFill>
              </a:rPr>
              <a:t>Any questions ?</a:t>
            </a:r>
            <a:endParaRPr sz="4000">
              <a:solidFill>
                <a:schemeClr val="lt1"/>
              </a:solidFill>
            </a:endParaRPr>
          </a:p>
        </p:txBody>
      </p:sp>
      <p:sp>
        <p:nvSpPr>
          <p:cNvPr id="170" name="Google Shape;17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